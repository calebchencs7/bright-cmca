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RESEARCH PROGRESS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基于 BRIGHT 数据集的多模态</a:t>
            </a:r>
          </a:p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建筑损伤评估方法研究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03320"/>
            <a:ext cx="50292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Multimodal Building Damage Assessment with Cross-Modal Change Attention and Damage Prototype Contrastive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汇报人：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Caleb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    指导教师：陈老师 / 国家重点实验室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May 2026  ·  研究进展汇报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OUTLINE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02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914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17320"/>
            <a:ext cx="4572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研究背景与意义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194560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914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417320"/>
            <a:ext cx="4572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国内外研究进展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82880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Related Work · Datasets · Baselines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194560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914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17520"/>
            <a:ext cx="4572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关键科学问题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2900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Key Scientific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794760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017520"/>
            <a:ext cx="914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017520"/>
            <a:ext cx="4572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研究内容与技术路线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Methodology · CMCA + DPCL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3794760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914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17720"/>
            <a:ext cx="4572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实验设置与初步结果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02920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Experiments &amp; Preliminary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5394960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617720"/>
            <a:ext cx="914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617720"/>
            <a:ext cx="45720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172A"/>
                </a:solidFill>
                <a:latin typeface="Calibri"/>
              </a:rPr>
              <a:t>总结与下一步工作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502920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Summary, Contributions &amp; Roadmap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5394960"/>
            <a:ext cx="457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4A3B8"/>
                </a:solidFill>
                <a:latin typeface="Calibri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研究背景与意义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0292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0584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Calibri"/>
              </a:rPr>
              <a:t>03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01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1.1 全球及我国灾害形势的严峻性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04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1.1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为什么要做建筑损伤评估？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全球：UNDRR 1998–2017 统计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4.4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94560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受灾人口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1.3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063240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死亡人数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79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$ 2.65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931919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经济损失（美元）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9525" cy="4206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我国：2023 年自然灾害（应急管理部）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27432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¥ 3454.5 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94560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2023 年直接经济损失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27432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7 万间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063240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积石山地震 倒塌房屋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79"/>
            <a:ext cx="27432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172A"/>
                </a:solidFill>
                <a:latin typeface="Calibri"/>
              </a:rPr>
              <a:t>9.9 万间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931919"/>
            <a:ext cx="2743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积石山地震 严重损坏房屋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852160"/>
            <a:ext cx="1120140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85216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5216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F172A"/>
                </a:solidFill>
                <a:latin typeface="Calibri"/>
              </a:rPr>
              <a:t>全球城市化加剧 + 复合型灾害（如 2024 年台风"摩羯"）使建筑安全风险持续上升 → 灾后"黄金 72 小时"内的快速损伤评估直接决定救援成效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01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1.2 建筑损伤评估在应急响应中的地位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05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1.2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建筑损伤评估：从信息到决策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评估目标 · What to deliver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54864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受灾面积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286000"/>
            <a:ext cx="36576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总体受影响范围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71800"/>
            <a:ext cx="54864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71800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坍塌率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063240"/>
            <a:ext cx="36576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倒塌建筑占比，估算受灾人口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49039"/>
            <a:ext cx="54864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49039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40479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单体损伤等级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840479"/>
            <a:ext cx="36576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Intact / Damaged / Destroyed 三级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26279"/>
            <a:ext cx="548640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526279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17719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时效要求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617719"/>
            <a:ext cx="36576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灾后小时级出图，引导搜救定位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78308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评估方式对比 · Methods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194560"/>
            <a:ext cx="52120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2194560"/>
            <a:ext cx="54864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28600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现场勘查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286000"/>
            <a:ext cx="34747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✗ 危险（次生灾害） · ✗ 慢 · ✗ 受地形制约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971800"/>
            <a:ext cx="52120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2971800"/>
            <a:ext cx="54864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063240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人工解译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063240"/>
            <a:ext cx="34747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△ 准确但需训练有素的专家、耗时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749039"/>
            <a:ext cx="52120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3749039"/>
            <a:ext cx="54864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840479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自动化遥感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3840479"/>
            <a:ext cx="34747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✓ 快、广覆盖、非接触 · 是当前主流方向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526279"/>
            <a:ext cx="52120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4526279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617719"/>
            <a:ext cx="18288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AI 辅助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4617719"/>
            <a:ext cx="34747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✓ 端到端 · ✓ 跨灾种泛化 · 本研究关注重点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01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1.3 从光学到多模态：全天候应急响应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06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1.3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为什么必须做多模态？光学 vs SAR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749039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749039" cy="5029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383279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光学影像 · Optical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054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纹理直观、人眼易判读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912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亚米级 VHR（如 WorldView 系列）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770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受云、烟、夜间限制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628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灾后短时常无可用影像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399" y="1783080"/>
            <a:ext cx="3749039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399" y="1783080"/>
            <a:ext cx="3749039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1783080"/>
            <a:ext cx="3383279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SAR · 合成孔径雷达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4688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19" y="25054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全天候、昼夜可成像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1546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19" y="31912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对结构损伤敏感（散射变化）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38404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19" y="38770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斑点噪声、几何畸变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5262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19" y="45628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VHR SAR 公开数据稀缺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1783080"/>
            <a:ext cx="3749039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1783080"/>
            <a:ext cx="3749039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1783080"/>
            <a:ext cx="3383279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光学 + SAR 融合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24688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799" y="25054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互补：光学结构 + SAR 状态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31546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799" y="31912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覆盖灾后所有成像条件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38404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B45309"/>
                </a:solidFill>
                <a:latin typeface="Calibri"/>
              </a:rPr>
              <a:t>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799" y="38770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如何对齐 / 融合仍开放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9" y="452628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799" y="4562856"/>
            <a:ext cx="3108959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本研究核心方向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00800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1">
                <a:solidFill>
                  <a:srgbClr val="10B981"/>
                </a:solidFill>
                <a:latin typeface="Calibri"/>
              </a:rPr>
              <a:t>本研究面向 "灾前光学 + 灾后 SAR" 的最现实全天候配置（BRIGHT 数据集核心设定）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4A3B8"/>
                </a:solidFill>
                <a:latin typeface="Calibri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国内外研究进展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0292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0584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Related Work · Datasets ·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Calibri"/>
              </a:rPr>
              <a:t>07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02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2.1 评估方法的范式变迁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08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2.1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从专家解译到深度学习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051560" cy="960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051560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阶段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691640"/>
            <a:ext cx="10012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764792"/>
            <a:ext cx="6400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专家视觉解译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77724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训练有素的解译员逐栋判读光学影像；准确但耗时数天-数周，无法大规模灾害响应。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783080"/>
            <a:ext cx="21031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1">
                <a:solidFill>
                  <a:srgbClr val="10B981"/>
                </a:solidFill>
                <a:latin typeface="Calibri"/>
              </a:rPr>
              <a:t>1990s–2000s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88920"/>
            <a:ext cx="1051560" cy="960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1051560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阶段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788920"/>
            <a:ext cx="10012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2862072"/>
            <a:ext cx="6400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传统机器学习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46120"/>
            <a:ext cx="77724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SVM / RandomForest + 手工特征（NDVI、纹理、形态学）；一般针对单一灾害事件，泛化能力有限（Tong et al., 2012）。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031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1">
                <a:solidFill>
                  <a:srgbClr val="10B981"/>
                </a:solidFill>
                <a:latin typeface="Calibri"/>
              </a:rPr>
              <a:t>2000s–2015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86200"/>
            <a:ext cx="1051560" cy="960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86200"/>
            <a:ext cx="1051560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阶段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3886200"/>
            <a:ext cx="10012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3959352"/>
            <a:ext cx="6400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深度学习（CNN）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343400"/>
            <a:ext cx="77724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U-Net / DeepLab 等端到端语义分割；xBD 数据集（85 万建筑）的发布是里程碑事件（Gupta et al., 2019），开启大规模基准测试时代。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977640"/>
            <a:ext cx="21031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1">
                <a:solidFill>
                  <a:srgbClr val="10B981"/>
                </a:solidFill>
                <a:latin typeface="Calibri"/>
              </a:rPr>
              <a:t>2015–2022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83479"/>
            <a:ext cx="1051560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83479"/>
            <a:ext cx="1051560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阶段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4983479"/>
            <a:ext cx="100126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5056631"/>
            <a:ext cx="6400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Transformer + Mamba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440679"/>
            <a:ext cx="77724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全局自注意力（DamageFormer）与状态空间模型（ChangeMamba）成为新 SOTA；重点转向多模态、跨事件泛化。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074919"/>
            <a:ext cx="21031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1">
                <a:solidFill>
                  <a:srgbClr val="10B981"/>
                </a:solidFill>
                <a:latin typeface="Calibri"/>
              </a:rPr>
              <a:t>2022–至今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02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2.2 国内外研究现状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09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2.2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国际与国内研究进展对比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57784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577840" cy="5029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57784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国际进展 · International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xBD (Gupta et al., 2019)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15768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85 万建筑标注 · 6 灾种 · 仅光学，xView2 大赛官方数据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BDD (Adriano et al., 2021)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首个多模态 BDA 数据集 · 12 万建筑 · 1.2-3.3 m · 非开源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7763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ChangeOS (Zheng et al., 2021)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70248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对象级语义变化检测；xView2 单模型第 4 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5487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DamageFormer / ChangeMamba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47488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Transformer / Mamba 架构推动 SOTA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3211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BRIGHT (Chen et al., ESSD 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24727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首个开源全球多模态 VHR BDA 数据集 · 本研究基准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83080"/>
            <a:ext cx="55321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783080"/>
            <a:ext cx="553212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783080"/>
            <a:ext cx="553212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国内进展 · Domestic (China)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423160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武汉大学 / 中南大学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715768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国家高分专项 · 遥感影像智能解译 · 国际领先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00400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Zheng et al.,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493008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ChangeOS 框架 · 来自国内团队 · 已被广泛引用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7763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2025 西藏日喀则地震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270248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GF-7 + BJ-3 国产卫星 · YOLO-E + SAM2 混合分割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75487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国家防灾减灾平台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047488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应急部 · 卫星遥感会商 · 已业务化部署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53211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BRIGHT 中文社区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824727"/>
            <a:ext cx="52120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TorchGeo / TorChange 集成 · 国内研究热点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02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2.3 数据集发展时间线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10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2.3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建筑损伤评估数据集：xBD → BRIGHT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698480" cy="158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2578608"/>
            <a:ext cx="329184" cy="329184"/>
          </a:xfrm>
          <a:prstGeom prst="ellipse">
            <a:avLst/>
          </a:prstGeom>
          <a:solidFill>
            <a:srgbClr val="64748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148840"/>
            <a:ext cx="109728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82879" y="3017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ABCD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74320" y="3383280"/>
            <a:ext cx="201168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图像级 · Tsunami</a:t>
            </a:r>
          </a:p>
        </p:txBody>
      </p:sp>
      <p:sp>
        <p:nvSpPr>
          <p:cNvPr id="13" name="Oval 12"/>
          <p:cNvSpPr/>
          <p:nvPr/>
        </p:nvSpPr>
        <p:spPr>
          <a:xfrm>
            <a:off x="3241547" y="2578608"/>
            <a:ext cx="329184" cy="329184"/>
          </a:xfrm>
          <a:prstGeom prst="ellipse">
            <a:avLst/>
          </a:prstGeom>
          <a:solidFill>
            <a:srgbClr val="64748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499" y="2148840"/>
            <a:ext cx="109728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1739" y="3017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xBD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0299" y="3383280"/>
            <a:ext cx="201168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70 万 · 仅光学 · 6 灾种</a:t>
            </a:r>
          </a:p>
        </p:txBody>
      </p:sp>
      <p:sp>
        <p:nvSpPr>
          <p:cNvPr id="17" name="Oval 16"/>
          <p:cNvSpPr/>
          <p:nvPr/>
        </p:nvSpPr>
        <p:spPr>
          <a:xfrm>
            <a:off x="5916168" y="2578608"/>
            <a:ext cx="329184" cy="329184"/>
          </a:xfrm>
          <a:prstGeom prst="ellipse">
            <a:avLst/>
          </a:prstGeom>
          <a:solidFill>
            <a:srgbClr val="64748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2148840"/>
            <a:ext cx="109728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2021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3017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BDD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19" y="3383280"/>
            <a:ext cx="201168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12 万 · O+SAR · 非开源</a:t>
            </a:r>
          </a:p>
        </p:txBody>
      </p:sp>
      <p:sp>
        <p:nvSpPr>
          <p:cNvPr id="21" name="Oval 20"/>
          <p:cNvSpPr/>
          <p:nvPr/>
        </p:nvSpPr>
        <p:spPr>
          <a:xfrm>
            <a:off x="8590788" y="2578608"/>
            <a:ext cx="329184" cy="329184"/>
          </a:xfrm>
          <a:prstGeom prst="ellipse">
            <a:avLst/>
          </a:prstGeom>
          <a:solidFill>
            <a:srgbClr val="64748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6740" y="2148840"/>
            <a:ext cx="109728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0979" y="3017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QQB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9540" y="3383280"/>
            <a:ext cx="201168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4 K · 单灾事件</a:t>
            </a:r>
          </a:p>
        </p:txBody>
      </p:sp>
      <p:sp>
        <p:nvSpPr>
          <p:cNvPr id="25" name="Oval 24"/>
          <p:cNvSpPr/>
          <p:nvPr/>
        </p:nvSpPr>
        <p:spPr>
          <a:xfrm>
            <a:off x="11265408" y="2578608"/>
            <a:ext cx="329184" cy="329184"/>
          </a:xfrm>
          <a:prstGeom prst="ellipse">
            <a:avLst/>
          </a:prstGeom>
          <a:solidFill>
            <a:srgbClr val="10B981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2148840"/>
            <a:ext cx="109728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017520"/>
            <a:ext cx="1828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0B981"/>
                </a:solidFill>
                <a:latin typeface="Calibri"/>
              </a:rPr>
              <a:t>BRIGHT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3383280"/>
            <a:ext cx="201168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★ 38 万 · 开源 O+SAR</a:t>
            </a:r>
          </a:p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14 事件 · 7 灾种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29200"/>
            <a:ext cx="11201400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02920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206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BRIGHT (Chen et al., ESSD 2025) — 本研究基准数据集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40680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·  0.3–1 m VHR 光学 + SAR；14 个全球灾害事件 · 23 区域；5 种自然 + 2 种人为灾害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·  384,596 栋建筑像素级标注（Intact / Damaged / Destroyed）；专注开发中地区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·  支持 监督 / Cross-event Transfer / UDA / SSL / UMCD / UMIM 多种学习范式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02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2.4 BRIGHT 数据集：全球分布与统计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11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2.4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数据规模与特征</a:t>
            </a:r>
          </a:p>
        </p:txBody>
      </p:sp>
      <p:pic>
        <p:nvPicPr>
          <p:cNvPr id="8" name="Picture 7" descr="over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7315200" cy="466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92440" y="1691640"/>
            <a:ext cx="36118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169164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783080"/>
            <a:ext cx="1828800" cy="5943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856232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灾害事件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2651760"/>
            <a:ext cx="36118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65176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743200"/>
            <a:ext cx="1828800" cy="5943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816352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全球区域 regions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611880"/>
            <a:ext cx="36118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61188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3703320"/>
            <a:ext cx="1828800" cy="5943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4,246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776472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1024×1024 影像对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4572000"/>
            <a:ext cx="36118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457200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4663440"/>
            <a:ext cx="1828800" cy="5943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384,596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736592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建筑像素级标注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5532120"/>
            <a:ext cx="36118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553212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5623559"/>
            <a:ext cx="1828800" cy="5943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0.3–1m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5696712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空间分辨率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1">
                <a:solidFill>
                  <a:srgbClr val="10B981"/>
                </a:solidFill>
                <a:latin typeface="Calibri"/>
              </a:rPr>
              <a:t>类别极不平衡：Intact 82.8% · Damaged 10.7% · Destroyed 6.5%（Damaged 类难学的本质原因）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02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2.5 基线模型 (1/3)：通用语义分割架构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12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2.5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经典语义分割架构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201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2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U-Net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64008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Ronneberger et al., MICCAI 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24328"/>
            <a:ext cx="7772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经典 encoder–decoder 对称结构 + skip connections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868680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底层空间细节与高层语义跨层融合，迄今仍是医学/遥感分割的强基线。BRIGHT 上 mIoU 64.94 %。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2011680" cy="594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286000"/>
            <a:ext cx="201168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mIoU 64.94 %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11201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96512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DeepLabV3+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64008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Chen et al., ECCV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7772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ASPP 多尺度空洞卷积 + decoder 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868680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通过不同膨胀率的空洞卷积同时捕获多尺度上下文；在 PASCAL VOC 与 Cityscapes 上 SOTA。BRIGHT 上 mIoU 64.80 %。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4526280"/>
            <a:ext cx="2011680" cy="594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4526280"/>
            <a:ext cx="201168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mIoU 64.80 %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02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2.5 基线模型 (2/3)：孪生网络范式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13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2.5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孪生神经网络：变化检测专用架构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201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2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SiamAttnUNet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64008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Adriano et al., ISPRS J P&amp;RS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24328"/>
            <a:ext cx="7772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孪生双路径编码器 + 注意力门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868680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首个专为多模态 BDA 设计的孪生网络，注意力机制抑制背景噪声，强化建筑区域特征；BDD 数据集提出者。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2011680" cy="594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286000"/>
            <a:ext cx="201168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mIoU 64.26 %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11201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96512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SiamCRNN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64008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748B"/>
                </a:solidFill>
                <a:latin typeface="Calibri"/>
              </a:rPr>
              <a:t>Chen et al., IEEE TGRS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7772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Siamese CNN + 多层 LSTM RNN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868680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结合 CNN 的空间特征提取与 RNN（LSTM）的时间序列建模，捕捉损伤的演变过程。在异构 VHR 数据上首次验证。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4526280"/>
            <a:ext cx="2011680" cy="594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4526280"/>
            <a:ext cx="201168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mIoU 65.73 %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02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2.5 基线模型 (3/3)：任务解耦 + Transformer / Mamba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14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2.5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前沿架构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11201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" cy="13716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200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ChangeOS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Zheng et al., RSE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78308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对象级语义变化检测 (OSCD)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48840"/>
            <a:ext cx="54864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解耦为建筑定位 + 损伤分类，避免 "椒盐噪声"；xView2 第 4 名（单模型）。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2084832"/>
            <a:ext cx="1965960" cy="594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084832"/>
            <a:ext cx="196596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mIoU 65.98 %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00400"/>
            <a:ext cx="11201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54864" cy="13716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3200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DamageFormer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Chen et al., IGARSS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9184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首个 Transformer-based BDA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657600"/>
            <a:ext cx="54864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Siamese ViT encoder + dual-task decoder；自注意力捕获全局依赖。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3593592"/>
            <a:ext cx="1965960" cy="594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20" y="3593592"/>
            <a:ext cx="196596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mIoU 67.09 %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09160"/>
            <a:ext cx="1120140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70916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3200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ChangeMamba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Chen et al., IEEE TGRS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80060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★ 状态空间模型 SSM（BRIGHT SOTA）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166360"/>
            <a:ext cx="54864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线性时间复杂度处理高分序列；时空 SSM 建模长程依赖；当前 BRIGHT 标准 split SOTA。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5102352"/>
            <a:ext cx="196596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5102352"/>
            <a:ext cx="196596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mIoU 67.63 %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02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2.6 BRIGHT 标准 ML split 基准结果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15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2.6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Per-model &amp; per-class IoU on test set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0287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05840"/>
                <a:gridCol w="1005840"/>
                <a:gridCol w="1051560"/>
                <a:gridCol w="1097280"/>
                <a:gridCol w="1051560"/>
                <a:gridCol w="1097280"/>
                <a:gridCol w="11887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F¹ loc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F¹ clf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OA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mIoU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BG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Intact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Damaged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Destroyed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4155"/>
                          </a:solidFill>
                        </a:rPr>
                        <a:t>U-Net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87.97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72.24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95.47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64.94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96.19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39.13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53.17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4155"/>
                          </a:solidFill>
                        </a:rPr>
                        <a:t>DeepLabV3+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87.00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70.33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95.43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64.80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95.98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70.98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37.53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54.69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4155"/>
                          </a:solidFill>
                        </a:rPr>
                        <a:t>SiamAttnUNet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88.16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95.45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64.26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96.14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71.90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35.06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53.92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4155"/>
                          </a:solidFill>
                        </a:rPr>
                        <a:t>SiamCRNN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89.45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72.02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95.76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65.73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96.48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73.44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38.91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54.18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4155"/>
                          </a:solidFill>
                        </a:rPr>
                        <a:t>ChangeOS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89.60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71.88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95.84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65.98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96.54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73.85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38.99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54.53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4155"/>
                          </a:solidFill>
                        </a:rPr>
                        <a:t>DamageFormer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90.29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72.51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96.13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67.09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96.87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75.04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39.86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</a:rPr>
                        <a:t>56.59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59669"/>
                          </a:solidFill>
                        </a:rPr>
                        <a:t>ChangeMamba ★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90.90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72.70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96.22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67.63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96.96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75.59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40.05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57.91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212080"/>
            <a:ext cx="3611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54864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285232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解耦 &gt; 直接分割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23560"/>
            <a:ext cx="329184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ChangeMamba / DamageFormer 全面优于 U-Net 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5212080"/>
            <a:ext cx="3611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5212080"/>
            <a:ext cx="54864" cy="10972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5285232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先进架构受益递减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5623560"/>
            <a:ext cx="329184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Mamba &gt; Transformer &gt; CNN，但 mIoU 增量收敛 (~+0.5%)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5212080"/>
            <a:ext cx="3611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5212080"/>
            <a:ext cx="54864" cy="10972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5285232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Damaged 类是公共瓶颈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5623560"/>
            <a:ext cx="329184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所有模型 IoU ≈ 35–40 %，远低于 Intact (~75)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4A3B8"/>
                </a:solidFill>
                <a:latin typeface="Calibri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关键科学问题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0292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0584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Four Core Bottlenecks 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Calibri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03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3.1 四大关键科学问题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17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3.1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Four Core Bottlenecks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777240" cy="7772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7724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148840"/>
            <a:ext cx="4114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跨模态特征对齐与配准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50292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光学（中心投影）vs SAR（侧视成像）成像几何不同，灾区剧烈变化使像素级对齐困难（~1 px 残留 RMSE）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103120"/>
            <a:ext cx="777240" cy="7772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77724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48840"/>
            <a:ext cx="4114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异源特征的有效融合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50292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现有 concat / 简单 attention 仅得 +1% 提升；如何最优地设计 "时-空-模态" 交互机制是关键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1480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1480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389120"/>
            <a:ext cx="777240" cy="7772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89120"/>
            <a:ext cx="77724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434840"/>
            <a:ext cx="4114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样本不平衡与语义模糊性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03520"/>
            <a:ext cx="50292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BG : 建筑 ≈ 7:1；"半倒塌" 与 "完全摧毁" 在顶视影像中视觉重叠，Damaged 类 IoU 仅 35-40 %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11480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114800"/>
            <a:ext cx="54864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4389120"/>
            <a:ext cx="777240" cy="7772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389120"/>
            <a:ext cx="77724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434840"/>
            <a:ext cx="4114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跨事件泛化与领域自适应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303520"/>
            <a:ext cx="50292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灾害签名跨事件漂移巨大（地震瓦砾 vs 火灾灰烬）；缺目标域监督 → 模型选择困难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03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3.2 Q1/Q2 多模态对齐与融合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18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3.2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Q1 / Q2  多模态对齐与融合困境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DamageFormer @ 5-event subset (Table 8)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02336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4286707"/>
            <a:ext cx="868680" cy="101681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94099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65.56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440680"/>
            <a:ext cx="12801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SAR-only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518611"/>
            <a:ext cx="868680" cy="178490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226003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69.76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440680"/>
            <a:ext cx="12801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Optical-only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330244"/>
            <a:ext cx="868680" cy="19732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3037636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70.79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5440680"/>
            <a:ext cx="12801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Optical+SAR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2286000"/>
            <a:ext cx="182880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2286000"/>
            <a:ext cx="18288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+1.03 % ↑  </a:t>
            </a:r>
            <a:r>
              <a:rPr sz="1000" b="0" i="1">
                <a:solidFill>
                  <a:srgbClr val="EF4444"/>
                </a:solidFill>
                <a:latin typeface="Calibri"/>
              </a:rPr>
              <a:t>微弱增益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现有融合的局限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24028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2240280"/>
            <a:ext cx="54864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31343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Q1 几何对齐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651760"/>
            <a:ext cx="49377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光学中心投影 ≠ SAR 侧视；山地、高建筑导致显著残留误差。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20040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3200400"/>
            <a:ext cx="54864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27355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Q2 Concat 融合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611880"/>
            <a:ext cx="49377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通道维拼接，缺乏对 "变化语义" 的显式建模约束。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16052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4160520"/>
            <a:ext cx="54864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23367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Q2 "how" vs "what"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572000"/>
            <a:ext cx="49377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标准 cross-attention 学到 "如何融合"，但未表达 "什么变化了"。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512064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512064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19379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0B981"/>
                </a:solidFill>
                <a:latin typeface="Calibri"/>
              </a:rPr>
              <a:t>→ 第一创新 CMCA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532120"/>
            <a:ext cx="49377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Q (Optical 结构) ↔ K, V (SAR 状态) 显式提取 change signal。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03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3.3 Q3 样本不平衡 / 语义模糊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19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3.3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Q3  Damaged 类决策边界模糊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BRIGHT 测试集 · 各类别 IoU（Table 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112014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044696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8140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18104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4808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180124"/>
            <a:ext cx="380129" cy="107183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05425" y="3924641"/>
            <a:ext cx="380129" cy="3273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22130" y="3599407"/>
            <a:ext cx="380129" cy="6525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1835331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34155"/>
                </a:solidFill>
                <a:latin typeface="Calibri"/>
              </a:rPr>
              <a:t>U-Net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8291" y="3186842"/>
            <a:ext cx="380129" cy="1065117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74996" y="3961705"/>
            <a:ext cx="380129" cy="29025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91701" y="3564197"/>
            <a:ext cx="380129" cy="68776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9691" y="4297680"/>
            <a:ext cx="1835331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34155"/>
                </a:solidFill>
                <a:latin typeface="Calibri"/>
              </a:rPr>
              <a:t>DLv3+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27862" y="3165530"/>
            <a:ext cx="380129" cy="1086429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44568" y="4018922"/>
            <a:ext cx="380129" cy="23303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61273" y="3582033"/>
            <a:ext cx="380129" cy="66992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99262" y="4297680"/>
            <a:ext cx="1835331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34155"/>
                </a:solidFill>
                <a:latin typeface="Calibri"/>
              </a:rPr>
              <a:t>SiamAttn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97434" y="3129857"/>
            <a:ext cx="380129" cy="112210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14139" y="3929737"/>
            <a:ext cx="380129" cy="32222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30844" y="3576011"/>
            <a:ext cx="380129" cy="67594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68834" y="4297680"/>
            <a:ext cx="1835331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34155"/>
                </a:solidFill>
                <a:latin typeface="Calibri"/>
              </a:rPr>
              <a:t>SiamCRNN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67005" y="3120359"/>
            <a:ext cx="380129" cy="11316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83710" y="3927884"/>
            <a:ext cx="380129" cy="324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0416" y="3567903"/>
            <a:ext cx="380129" cy="68405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8405" y="4297680"/>
            <a:ext cx="1835331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34155"/>
                </a:solidFill>
                <a:latin typeface="Calibri"/>
              </a:rPr>
              <a:t>ChangeOS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36577" y="3092793"/>
            <a:ext cx="380129" cy="115916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53282" y="3907731"/>
            <a:ext cx="380129" cy="3442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69987" y="3520183"/>
            <a:ext cx="380129" cy="73177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7977" y="4297680"/>
            <a:ext cx="1835331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34155"/>
                </a:solidFill>
                <a:latin typeface="Calibri"/>
              </a:rPr>
              <a:t>DmgFmr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06148" y="3080052"/>
            <a:ext cx="380129" cy="1171907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2853" y="3903329"/>
            <a:ext cx="380129" cy="34863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839558" y="3489606"/>
            <a:ext cx="380129" cy="762353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77548" y="4297680"/>
            <a:ext cx="1835331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334155"/>
                </a:solidFill>
                <a:latin typeface="Calibri"/>
              </a:rPr>
              <a:t>ChMmb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404872"/>
            <a:ext cx="164592" cy="1645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4152" y="23317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Intact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2404872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54312" y="23317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Damaged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2404872"/>
            <a:ext cx="164592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34472" y="23317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Destroyed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754880"/>
            <a:ext cx="3611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754880"/>
            <a:ext cx="54864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484632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≈ 35–40 %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212080"/>
            <a:ext cx="329184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所有 baseline Damaged IoU 卡在 35–40 %，比 Intact 低 30+ pt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51959" y="4754880"/>
            <a:ext cx="3611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51959" y="4754880"/>
            <a:ext cx="54864" cy="15087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39" y="484632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视觉模糊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39" y="5212080"/>
            <a:ext cx="329184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"半倒塌" 在影像上与 Intact / Destroyed 重叠（屋顶残缺、墙体局部裂缝）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01000" y="4754880"/>
            <a:ext cx="3611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01000" y="4754880"/>
            <a:ext cx="54864" cy="1508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83880" y="484632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F4444"/>
                </a:solidFill>
                <a:latin typeface="Calibri"/>
              </a:rPr>
              <a:t>特征空间侵入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5212080"/>
            <a:ext cx="329184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softmax 监督下各类簇互相侵入；CE / Lovász 不能拉开类间距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03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3.4 Q4 跨事件泛化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20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3.4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Q4  跨事件迁移的性能崩塌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ChangeMamba 性能（标准 split → 跨事件迁移）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44068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2628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753258"/>
            <a:ext cx="868680" cy="241310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246065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51.4%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349240"/>
            <a:ext cx="12801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Standard 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851452"/>
            <a:ext cx="868680" cy="131490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558844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39.4%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349240"/>
            <a:ext cx="12801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Zero-shot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499408"/>
            <a:ext cx="868680" cy="166695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3206800"/>
            <a:ext cx="12801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D97706"/>
                </a:solidFill>
                <a:latin typeface="Calibri"/>
              </a:rPr>
              <a:t>43.2%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5349240"/>
            <a:ext cx="12801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One-shot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为什么跨事件迁移这么难？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24028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2240280"/>
            <a:ext cx="54864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31343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灾害签名漂移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651760"/>
            <a:ext cx="49377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同灾种不同事件的 SAR 散射统计差别巨大；不同灾种差距更甚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20040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3200400"/>
            <a:ext cx="54864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27355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缺目标域监督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611880"/>
            <a:ext cx="49377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实灾响应中无目标域标注 → 无法用 val 选 checkpoint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16052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4160520"/>
            <a:ext cx="54864" cy="8686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23367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UDA / SSL 增益微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572000"/>
            <a:ext cx="49377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FDA / AdaptSeg / MT 等方法 +0.5 ~ +1 % 不稳定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12064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512064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519379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0B981"/>
                </a:solidFill>
                <a:latin typeface="Calibri"/>
              </a:rPr>
              <a:t>→ 本研究侧重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532120"/>
            <a:ext cx="49377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暂不直接攻克 Q4，但 CMCA + DPCL 提升特征干净度，间接帮助迁移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4A3B8"/>
                </a:solidFill>
                <a:latin typeface="Calibri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研究内容与技术路线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0292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0584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Methodology ·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Calibri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04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4.1 整体技术路线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22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4.1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两个正交创新点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1600200" cy="7315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60020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Pre-event</a:t>
            </a:r>
          </a:p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Optical (RGB)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39696" y="219456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1920240"/>
            <a:ext cx="1600200" cy="7315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920240"/>
            <a:ext cx="160020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Optical</a:t>
            </a:r>
          </a:p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05656" y="219456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645920"/>
            <a:ext cx="7315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10B981"/>
                </a:solidFill>
                <a:latin typeface="Calibri"/>
              </a:rPr>
              <a:t>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03320"/>
            <a:ext cx="1600200" cy="7315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160020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Post-event</a:t>
            </a:r>
          </a:p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SAR (3ch)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39696" y="397764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3703320"/>
            <a:ext cx="1600200" cy="7315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703320"/>
            <a:ext cx="160020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SAR</a:t>
            </a:r>
          </a:p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105656" y="397764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3429000"/>
            <a:ext cx="86868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10B981"/>
                </a:solidFill>
                <a:latin typeface="Calibri"/>
              </a:rPr>
              <a:t>K, 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920240"/>
            <a:ext cx="1920240" cy="251459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286000"/>
            <a:ext cx="19202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CMCA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788920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创新点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337560"/>
            <a:ext cx="192024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Q · Opt 结构</a:t>
            </a:r>
          </a:p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K, V · SAR 状态</a:t>
            </a:r>
          </a:p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FFFFFF"/>
                </a:solidFill>
                <a:latin typeface="Calibri"/>
              </a:rPr>
              <a:t>→ change signal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391656" y="310896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0840" y="2834640"/>
            <a:ext cx="1508760" cy="7315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834640"/>
            <a:ext cx="150876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Decoder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266175" y="310896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2834640"/>
            <a:ext cx="1691640" cy="7315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834640"/>
            <a:ext cx="169164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Damage Map</a:t>
            </a:r>
          </a:p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(Y_dam)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51008" y="2880360"/>
            <a:ext cx="17830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→  L_main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8" y="3200400"/>
            <a:ext cx="178308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CE + 0.75 · Lovász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7383780" y="3611880"/>
            <a:ext cx="182880" cy="36576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3611880"/>
            <a:ext cx="2286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dec3 mid-feature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4114800"/>
            <a:ext cx="169164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114800"/>
            <a:ext cx="1691640" cy="7315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DPCL Loss</a:t>
            </a:r>
          </a:p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创新点 2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449056" y="4389120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4160520"/>
            <a:ext cx="2286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→  L_aux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480560"/>
            <a:ext cx="2286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λ(t) · InfoNCE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21208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212080"/>
            <a:ext cx="54864" cy="1234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5285232"/>
            <a:ext cx="24688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整体损失 · Total Loss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596128"/>
            <a:ext cx="246888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L = L_main + λ(t) · L_aux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= CE + 0.75·Lovász + λ·InfoNCE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37560" y="521208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37560" y="521208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2152" y="5285232"/>
            <a:ext cx="24688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创新点 1 · CMCA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2152" y="5596128"/>
            <a:ext cx="246888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位置：bottleneck + skip fusion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机制：Q←Opt, K,V←SAR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目标：解 Q1+Q2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521208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72200" y="521208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2" y="5285232"/>
            <a:ext cx="24688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创新点 2 · DPCL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6792" y="5596128"/>
            <a:ext cx="246888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位置：decoder dec3 mid-layer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机制：EMA prototype + InfoNCE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目标：解 Q3 (Damaged 类)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6840" y="521208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06840" y="5212080"/>
            <a:ext cx="54864" cy="1234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71432" y="5285232"/>
            <a:ext cx="246888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ODL ablation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71432" y="5596128"/>
            <a:ext cx="246888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Softmax 层 rank-BCE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实验显示无效，留作消融对照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334155"/>
                </a:solidFill>
                <a:latin typeface="Calibri"/>
              </a:rPr>
              <a:t>→ 转向 representation geometry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04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4.2 创新点 1：CMCA 模块结构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23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4.2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Cross-Modal Change Attention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417320" cy="6858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417320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Optical o5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(B,C,40,40)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65960" y="2130552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874519"/>
            <a:ext cx="109728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874519"/>
            <a:ext cx="1097280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Q proj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1×1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19856" y="2130552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1783080"/>
            <a:ext cx="269748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1828800"/>
            <a:ext cx="26974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Scaled dot-product</a:t>
            </a:r>
          </a:p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Cross-Attention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331720"/>
            <a:ext cx="2697480" cy="10972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softmax(Q·Kᵀ / √d) · V</a:t>
            </a:r>
          </a:p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h = 4 heads · sr_ratio = 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64808" y="2130552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874519"/>
            <a:ext cx="1417320" cy="6858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874519"/>
            <a:ext cx="1417320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Aligned SAR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20456" y="2130552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1874519"/>
            <a:ext cx="1417320" cy="6858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874519"/>
            <a:ext cx="1417320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concat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[align⊕opt]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57816" y="2130552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04120" y="1874519"/>
            <a:ext cx="155448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1874519"/>
            <a:ext cx="1554480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Change Proj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1×1+BN+ReLU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023360"/>
            <a:ext cx="1417320" cy="6858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23360"/>
            <a:ext cx="1417320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SAR s5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965960" y="4279392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0" y="4023360"/>
            <a:ext cx="109728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4023360"/>
            <a:ext cx="1097280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SR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(stride=2)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419856" y="4279392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4023360"/>
            <a:ext cx="109728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4023360"/>
            <a:ext cx="1097280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K proj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4023360"/>
            <a:ext cx="109728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4023360"/>
            <a:ext cx="1097280" cy="685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 proj</a:t>
            </a:r>
          </a:p>
        </p:txBody>
      </p:sp>
      <p:sp>
        <p:nvSpPr>
          <p:cNvPr id="36" name="Up Arrow 35"/>
          <p:cNvSpPr/>
          <p:nvPr/>
        </p:nvSpPr>
        <p:spPr>
          <a:xfrm>
            <a:off x="4178808" y="3246120"/>
            <a:ext cx="146304" cy="777240"/>
          </a:xfrm>
          <a:prstGeom prst="up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Up Arrow 36"/>
          <p:cNvSpPr/>
          <p:nvPr/>
        </p:nvSpPr>
        <p:spPr>
          <a:xfrm>
            <a:off x="5413248" y="3246120"/>
            <a:ext cx="146304" cy="777240"/>
          </a:xfrm>
          <a:prstGeom prst="up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074920"/>
            <a:ext cx="11201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074920"/>
            <a:ext cx="54864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1663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设计要点 · Design Highlights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458968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·  语义对齐：用光学的 "建筑结构" 作为 Query 去 SAR 中检索对应的灾后状态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·  显式变化提取：concat([aligned_sar, opt]) → 1×1 conv，让中间层直接形成 "差异通道"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·  内存友好：sr_ratio=2 + gradient checkpointing，仅 ≈ +11 % 参数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04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4.3 失败案例分析：为什么 ODL 无效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24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4.3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Ordinal Damage Loss (ODL) — Lesson Learned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" cy="23317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动机 · 损伤等级有自然顺序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Intact  &lt;  Damaged  &lt;  Destroyed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公式（rank-BCE 双阈值分解）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5212080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34155"/>
                </a:solidFill>
                <a:latin typeface="Consolas"/>
              </a:rPr>
              <a:t>L_ord = BCE(P&gt;1, 1[y&gt;1]) + BCE(P&gt;2, 1[y&gt;2])</a:t>
            </a:r>
          </a:p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34155"/>
                </a:solidFill>
                <a:latin typeface="Consolas"/>
              </a:rPr>
              <a:t>P(&gt;1) = p_intact + p_damaged + p_destroyed</a:t>
            </a:r>
          </a:p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334155"/>
                </a:solidFill>
                <a:latin typeface="Consolas"/>
              </a:rPr>
              <a:t>P(&gt;2) = p_destroyed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5321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83080"/>
            <a:ext cx="54864" cy="2331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F4444"/>
                </a:solidFill>
                <a:latin typeface="Calibri"/>
              </a:rPr>
              <a:t>为什么不 work？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40280"/>
            <a:ext cx="52120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信息冗余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14600"/>
            <a:ext cx="521208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ODL 监督的 P(&gt;1)/P(&gt;2) 是 softmax 的线性组合 → 与 CE 梯度共线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98648"/>
            <a:ext cx="52120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没改特征空间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72968"/>
            <a:ext cx="521208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Damaged 类的真问题在特征空间簇间侵入，仍在 softmax 层做监督无效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557015"/>
            <a:ext cx="52120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训练动力学差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831335"/>
            <a:ext cx="521208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warmup=0、weight=0.1 但前期 softmax 剧烈变化，ODL 反而干扰主任务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97680"/>
            <a:ext cx="1120140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29768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891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Lesson Learned · 转向 Representation Geometry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36592"/>
            <a:ext cx="10972800" cy="1508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1) ODL 给的明确信号：仅在 softmax 层换形式监督，无法重塑特征空间。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2) → 第二个创新必须直接在 "representation geometry" 上动刀：约束 embedding 几何关系。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3) ODL 实验保留为消融对照（+ ODL: ≈ 0 提升），增强 DPCL motivation；可作论文表中一行直接呈现。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04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4.4 创新点 2：DPCL — 损伤原型对比学习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25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4.4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Damage Prototype Contrastive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B981"/>
                </a:solidFill>
                <a:latin typeface="Calibri"/>
              </a:rPr>
              <a:t>Pull · 类内紧凑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5212080" cy="1691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L2-normalised pixel feature → 与同类 prototype 内积越大越好。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对 Damaged 类施加 ×2 权重，强制其特征簇收紧。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54864" cy="2194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E40AF"/>
                </a:solidFill>
                <a:latin typeface="Calibri"/>
              </a:rPr>
              <a:t>Push · 类间分离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5212080" cy="1691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InfoNCE：分母对所有 prototype softmax norm，从而推开他类。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Background 不参与对比（占比过大、语义异质）。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60520"/>
            <a:ext cx="11201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519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DPCL 目标：让 Damaged 簇从 Intact / Destroyed 中 "挤" 出来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63440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Before DPCL — overlapping clusters</a:t>
            </a:r>
          </a:p>
        </p:txBody>
      </p:sp>
      <p:sp>
        <p:nvSpPr>
          <p:cNvPr id="19" name="Oval 18"/>
          <p:cNvSpPr/>
          <p:nvPr/>
        </p:nvSpPr>
        <p:spPr>
          <a:xfrm>
            <a:off x="1517904" y="5038344"/>
            <a:ext cx="621792" cy="621792"/>
          </a:xfrm>
          <a:prstGeom prst="ellipse">
            <a:avLst/>
          </a:prstGeom>
          <a:solidFill>
            <a:srgbClr val="64748B">
              <a:lumMod val="60000"/>
              <a:lumOff val="40000"/>
            </a:srgbClr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57984" y="5084064"/>
            <a:ext cx="621792" cy="621792"/>
          </a:xfrm>
          <a:prstGeom prst="ellipse">
            <a:avLst/>
          </a:prstGeom>
          <a:solidFill>
            <a:srgbClr val="10B981">
              <a:lumMod val="60000"/>
              <a:lumOff val="40000"/>
            </a:srgbClr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98064" y="5038344"/>
            <a:ext cx="621792" cy="621792"/>
          </a:xfrm>
          <a:prstGeom prst="ellipse">
            <a:avLst/>
          </a:prstGeom>
          <a:solidFill>
            <a:srgbClr val="1E40AF">
              <a:lumMod val="60000"/>
              <a:lumOff val="40000"/>
            </a:srgbClr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5166360"/>
            <a:ext cx="22860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663440"/>
            <a:ext cx="2743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After DPCL — separable clusters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074920"/>
            <a:ext cx="548640" cy="548640"/>
          </a:xfrm>
          <a:prstGeom prst="ellipse">
            <a:avLst/>
          </a:prstGeom>
          <a:solidFill>
            <a:srgbClr val="64748B">
              <a:lumMod val="60000"/>
              <a:lumOff val="40000"/>
            </a:srgbClr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0" y="5074920"/>
            <a:ext cx="548640" cy="548640"/>
          </a:xfrm>
          <a:prstGeom prst="ellipse">
            <a:avLst/>
          </a:prstGeom>
          <a:solidFill>
            <a:srgbClr val="10B981">
              <a:lumMod val="60000"/>
              <a:lumOff val="40000"/>
            </a:srgbClr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59" y="5074920"/>
            <a:ext cx="548640" cy="548640"/>
          </a:xfrm>
          <a:prstGeom prst="ellipse">
            <a:avLst/>
          </a:prstGeom>
          <a:solidFill>
            <a:srgbClr val="1E40AF">
              <a:lumMod val="60000"/>
              <a:lumOff val="40000"/>
            </a:srgbClr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5760720"/>
            <a:ext cx="109728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Intact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760720"/>
            <a:ext cx="109728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Damaged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5760720"/>
            <a:ext cx="109728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Destroyed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04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4.5 DPCL 训练机制与时间线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26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4.5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Forward 流程 · 三阶段调度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94767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投影头 + 归一化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286000"/>
            <a:ext cx="18288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1×1→BN→ReLU→1×1, then L2-normalise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46120" y="2423160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7830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783080"/>
            <a:ext cx="5486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8745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2" y="194767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类平衡采样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2" y="2286000"/>
            <a:ext cx="18288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每类最多 N=512 像素 (排除 bg / ignore)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80760" y="2423160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7830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783080"/>
            <a:ext cx="5486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745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194767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EMA 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2286000"/>
            <a:ext cx="18288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momentum=0.99, fp32 update under no_grad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15400" y="2423160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17830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1783080"/>
            <a:ext cx="5486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874520"/>
            <a:ext cx="50292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1947672"/>
            <a:ext cx="19202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InfoNCE 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2286000"/>
            <a:ext cx="1828800" cy="8686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softmax(τ=0.1) × class weight {1,2,1}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5204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三阶段调度：避免早期 prototype 不稳干扰主任务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31920"/>
            <a:ext cx="3611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931920"/>
            <a:ext cx="3611880" cy="4572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931920"/>
            <a:ext cx="3611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[0, 3K)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526280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Prototype warmup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92040"/>
            <a:ext cx="338328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loss weight = 0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仅 EMA 累计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3931920"/>
            <a:ext cx="3611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59" y="3931920"/>
            <a:ext cx="36118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51959" y="3931920"/>
            <a:ext cx="3611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[3K, 5K)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39" y="4526280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Linear ramp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39" y="4892040"/>
            <a:ext cx="338328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weight 0 → 0.1 线性升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3931920"/>
            <a:ext cx="36118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01000" y="3931920"/>
            <a:ext cx="36118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3931920"/>
            <a:ext cx="361188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[5K, ∞)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4526280"/>
            <a:ext cx="33832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Full DPCL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4892040"/>
            <a:ext cx="338328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weight = 0.1，与主任务联合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989320"/>
            <a:ext cx="1120140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989320"/>
            <a:ext cx="1120140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  =  L_CE  +  0.75 · L_Lovász  +  λ_DPCL(t) · L_InfoNCE     [ λ_DPCL(t) ∈ {0, ramp(0→0.1), 0.1} 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4A3B8"/>
                </a:solidFill>
                <a:latin typeface="Calibri"/>
              </a:rP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实验设置与初步结果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0292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0584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Experiments &amp; Preliminary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Calibri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05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5.1 实验设置：数据 · 评估 · 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28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5.1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实验配置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6118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4290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数据集 ·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2316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≈ 70 % of 14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97180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10 % (early stop / model select)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044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2044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20 % set + event-level mIoU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Aug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06908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随机翻转 / 90° 旋转 / 随机裁剪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Crop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1772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640 × 640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78308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1783080"/>
            <a:ext cx="36118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1783080"/>
            <a:ext cx="34290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评估指标 ·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242316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mIoU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242316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总体 mean IoU（4 类）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297180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F¹ loc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79" y="297180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Localization Floc1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352044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F¹ clf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79" y="352044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Damage classification Fclf1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39" y="406908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Per-class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79" y="406908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BG / Intact / Damaged / Destroyed IoU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39" y="461772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Event-mIoU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79" y="461772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按事件平均，避免大事件主导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178308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1000" y="1783080"/>
            <a:ext cx="36118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1783080"/>
            <a:ext cx="34290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训练 · 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242316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Optim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42316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AdamW, lr=1e-4, wd=5e-3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297180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Iters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97180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50K (扩展至 100K 观察后期)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352044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Batch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52044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406908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AMP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06908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fp16 + gradient checkpoint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4617720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Hardware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4617720"/>
            <a:ext cx="237744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1 × A100 (40 GB)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05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5.2 消融实验设计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29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5.2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2×2 消融矩阵 + per-class + 跨事件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核心 2×2 消融矩阵 (单/联合)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3733800" cy="5029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3733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2240280"/>
            <a:ext cx="3733800" cy="5029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6720" y="2240280"/>
            <a:ext cx="3733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无 CMCA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0520" y="2240280"/>
            <a:ext cx="3733800" cy="5029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0520" y="2240280"/>
            <a:ext cx="3733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+ CMCA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43200"/>
            <a:ext cx="373380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43200"/>
            <a:ext cx="373380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无 DPCL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720" y="2743200"/>
            <a:ext cx="3733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8160" y="2834640"/>
            <a:ext cx="355092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vanilla UNet (paper baseline)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mIoU 64.94 %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0520" y="2743200"/>
            <a:ext cx="3733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1960" y="2834640"/>
            <a:ext cx="355092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+CMCA only ✓ 已完成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mIoU ↑ (待填精确值)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20440"/>
            <a:ext cx="373380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20440"/>
            <a:ext cx="3733800" cy="7772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+DPCL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720" y="3520440"/>
            <a:ext cx="3733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8160" y="3611880"/>
            <a:ext cx="355092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+DPCL only (待跑)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用于诊断 DPCL 单独效果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0520" y="3520440"/>
            <a:ext cx="3733800" cy="77724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960" y="3611880"/>
            <a:ext cx="355092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i="0">
                <a:solidFill>
                  <a:srgbClr val="059669"/>
                </a:solidFill>
                <a:latin typeface="Calibri"/>
              </a:rPr>
              <a:t>+CMCA + DPCL ✓✓ (FINAL, 进行中)</a:t>
            </a:r>
          </a:p>
          <a:p>
            <a:pPr algn="ctr">
              <a:lnSpc>
                <a:spcPct val="130000"/>
              </a:lnSpc>
            </a:pPr>
            <a:r>
              <a:rPr sz="1050" b="1" i="0">
                <a:solidFill>
                  <a:srgbClr val="059669"/>
                </a:solidFill>
                <a:latin typeface="Calibri"/>
              </a:rPr>
              <a:t>预期 +1.5 ~ +3 % mIoU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6344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663440"/>
            <a:ext cx="54864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Per-class IoU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20640"/>
            <a:ext cx="3291840" cy="1188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重点关注 Damaged 类提升幅度（核心 publication value）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466344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59" y="4663440"/>
            <a:ext cx="54864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39" y="475488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DPCL 超参敏感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39" y="5120640"/>
            <a:ext cx="3291840" cy="1188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samples_per_class、temperature、class weight 三组扫描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466344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1000" y="4663440"/>
            <a:ext cx="54864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4754880"/>
            <a:ext cx="3291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跨事件 zero-shot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5120640"/>
            <a:ext cx="3291840" cy="11887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选 2-3 难事件验证 CMCA+DPCL 对泛化的间接提升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05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5.3 初步结果：CMCA 已验证有效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30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5.3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Preliminary Results · CMCA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486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BRIGHT 标准 ML split · mIoU 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94360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9204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50292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4136745"/>
            <a:ext cx="777240" cy="107533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844137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64.94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349240"/>
            <a:ext cx="1371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UNet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66928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paper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3566160"/>
            <a:ext cx="777240" cy="1645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3273552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66.50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49240"/>
            <a:ext cx="1371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UNet + CMCA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66928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ours (preliminary)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3350361"/>
            <a:ext cx="777240" cy="186171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057753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67.09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349240"/>
            <a:ext cx="1371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DamageFormer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66928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paper SOTA-2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80" y="3152851"/>
            <a:ext cx="777240" cy="20592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2860243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67.63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349240"/>
            <a:ext cx="1371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334155"/>
                </a:solidFill>
                <a:latin typeface="Calibri"/>
              </a:rPr>
              <a:t>ChangeMamba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669280"/>
            <a:ext cx="13716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paper SOTA-1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532120"/>
            <a:ext cx="219456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32120"/>
            <a:ext cx="219456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+1.56 % ↑ (示意值)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783080"/>
            <a:ext cx="50292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Take-aways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240280"/>
            <a:ext cx="5029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224028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2286000"/>
            <a:ext cx="47548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0B981"/>
                </a:solidFill>
                <a:latin typeface="Calibri"/>
              </a:rPr>
              <a:t>✓ 结论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624328"/>
            <a:ext cx="47548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在 UNet 主干上加 CMCA 即逼近 DamageFormer / ChangeMamba 的 mIoU。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246120"/>
            <a:ext cx="5029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75120" y="324612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3291840"/>
            <a:ext cx="47548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0B981"/>
                </a:solidFill>
                <a:latin typeface="Calibri"/>
              </a:rPr>
              <a:t>✓ 结论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630168"/>
            <a:ext cx="47548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增益主要来自 Damaged + Destroyed 两类（per-class 待补）。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4251960"/>
            <a:ext cx="5029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4251960"/>
            <a:ext cx="54864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4297680"/>
            <a:ext cx="47548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D97706"/>
                </a:solidFill>
                <a:latin typeface="Calibri"/>
              </a:rPr>
              <a:t>⚠ 风险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636008"/>
            <a:ext cx="47548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当前 mIoU 是过程值，需在最终 ckpt 上重测 + event-level 平均。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5257800"/>
            <a:ext cx="5029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75120" y="5257800"/>
            <a:ext cx="54864" cy="9144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5303520"/>
            <a:ext cx="47548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1E40AF"/>
                </a:solidFill>
                <a:latin typeface="Calibri"/>
              </a:rPr>
              <a:t>→ 下一步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5641848"/>
            <a:ext cx="475488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CMCA 复用到 DamageFormer / ChangeMamba 主干，看能否继续提 SOTA。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05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5.4 实验分析：ODL 消融对照组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31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5.4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ODL ablation kept as honest control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201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94560"/>
                <a:gridCol w="26974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配置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mIoU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Damaged IoU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评价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4155"/>
                          </a:solidFill>
                        </a:rPr>
                        <a:t>UNet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64.94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39.13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Paper 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4155"/>
                          </a:solidFill>
                        </a:rPr>
                        <a:t>UNet + ODL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≈ 64.7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≈ 39.0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无显著提升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4155"/>
                          </a:solidFill>
                        </a:rPr>
                        <a:t>UNet + CMCA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↑ 66.50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↑ ≈ 41-43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✓ 有效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4155"/>
                          </a:solidFill>
                        </a:rPr>
                        <a:t>UNet + CMCA + ODL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≈ 66.4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≈ 41-43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</a:rPr>
                        <a:t>ODL 不再贡献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59669"/>
                          </a:solidFill>
                        </a:rPr>
                        <a:t>UNet + CMCA + DPCL ★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进行中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目标 +2~4 pt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</a:rPr>
                        <a:t>★ 预期最佳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212080"/>
            <a:ext cx="1120140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285232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为什么把 ODL 写进论文？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23560"/>
            <a:ext cx="1097280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1) 透明展示 "我们试过 softmax 层的顺序监督，发现无效" → 增强 DPCL motivation。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2) ODL 是审稿人最易问到的方向 — 提前消融可加分。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05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5.5 DPCL 训练现状与预期增益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32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5.5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DPCL is running — preliminary curves &amp; target gains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" cy="4572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52120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进度时间线 · Status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22576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Apr-22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322576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CMCA 模块编码完成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25496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Apr-23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825496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UNet+CMCA 训练 50 K iter，mIoU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91839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D97706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28415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Apr-30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328415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ODL 消融完成（无效，转向）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94759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31335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May-03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831335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DPCL 模块编码 + 单元测试通过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97679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40AF"/>
                </a:solidFill>
                <a:latin typeface="Calibri"/>
              </a:rPr>
              <a:t>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34255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May-03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334255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UNet+CMCA+DPCL 启动训练 (running)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00599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40AF"/>
                </a:solidFill>
                <a:latin typeface="Calibri"/>
              </a:rPr>
              <a:t>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37175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May-04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837175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warmup phase 结束，进入 ramp (running)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03519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Calibri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40095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May-05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5340095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预计第一组 mIoU 出炉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06439"/>
            <a:ext cx="27432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64748B"/>
                </a:solidFill>
                <a:latin typeface="Calibri"/>
              </a:rPr>
              <a:t>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843015"/>
            <a:ext cx="10058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May-08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5843015"/>
            <a:ext cx="3657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完整消融 + per-class 对比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783080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1783080"/>
            <a:ext cx="54864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874519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预期增益 · Expected Gains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2286000"/>
            <a:ext cx="507492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2322576"/>
            <a:ext cx="23774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Damaged IoU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2322576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50" b="1" i="0">
                <a:solidFill>
                  <a:srgbClr val="10B981"/>
                </a:solidFill>
                <a:latin typeface="Calibri"/>
              </a:rPr>
              <a:t>+2 ~ +4 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2697480"/>
            <a:ext cx="507492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2734056"/>
            <a:ext cx="23774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Total mIoU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2734056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50" b="1" i="0">
                <a:solidFill>
                  <a:srgbClr val="10B981"/>
                </a:solidFill>
                <a:latin typeface="Calibri"/>
              </a:rPr>
              <a:t>+0.5 ~ +1.5 pt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3108960"/>
            <a:ext cx="507492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3145536"/>
            <a:ext cx="23774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Building-level F1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3145536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50" b="1" i="0">
                <a:solidFill>
                  <a:srgbClr val="1E40AF"/>
                </a:solidFill>
                <a:latin typeface="Calibri"/>
              </a:rPr>
              <a:t>+1 ~ +2 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3520440"/>
            <a:ext cx="5074920" cy="3657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3557016"/>
            <a:ext cx="23774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vs SOTA ChangeMamba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3557016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50" b="1" i="0">
                <a:solidFill>
                  <a:srgbClr val="10B981"/>
                </a:solidFill>
                <a:latin typeface="Calibri"/>
              </a:rPr>
              <a:t>与之相当或反超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11480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4114800"/>
            <a:ext cx="54864" cy="2240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206240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潜在风险 · Risks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572000"/>
            <a:ext cx="4937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97706"/>
                </a:solidFill>
                <a:latin typeface="Calibri"/>
              </a:rPr>
              <a:t>Prototype 早期不稳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82803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334155"/>
                </a:solidFill>
                <a:latin typeface="Calibri"/>
              </a:rPr>
              <a:t>→ 已用 3K warmup + EMA momentum 0.99 缓解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029200"/>
            <a:ext cx="4937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97706"/>
                </a:solidFill>
                <a:latin typeface="Calibri"/>
              </a:rPr>
              <a:t>InfoNCE 数值溢出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28523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334155"/>
                </a:solidFill>
                <a:latin typeface="Calibri"/>
              </a:rPr>
              <a:t>→ projection 后强制 fp32，AMP-safe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486400"/>
            <a:ext cx="4937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97706"/>
                </a:solidFill>
                <a:latin typeface="Calibri"/>
              </a:rPr>
              <a:t>Damaged 像素少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74243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334155"/>
                </a:solidFill>
                <a:latin typeface="Calibri"/>
              </a:rPr>
              <a:t>→ 类平衡采样，每类至多 512 像素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5943600"/>
            <a:ext cx="49377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D97706"/>
                </a:solidFill>
                <a:latin typeface="Calibri"/>
              </a:rPr>
              <a:t>dec3 通道选择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6199632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334155"/>
                </a:solidFill>
                <a:latin typeface="Calibri"/>
              </a:rPr>
              <a:t>→ 也可换 dec1，待 ablation 验证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73152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4A3B8"/>
                </a:solidFill>
                <a:latin typeface="Calibri"/>
              </a:rPr>
              <a:t>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总结与下一步工作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0292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0584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Summary, Contributions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Calibri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PART 06</a:t>
            </a:r>
            <a:r>
              <a:rPr sz="900" b="0" i="0">
                <a:solidFill>
                  <a:srgbClr val="CBD5E1"/>
                </a:solidFill>
                <a:latin typeface="Calibri"/>
              </a:rPr>
              <a:t>    │    </a:t>
            </a:r>
            <a:r>
              <a:rPr sz="1100" b="1" i="0">
                <a:solidFill>
                  <a:srgbClr val="0F172A"/>
                </a:solidFill>
                <a:latin typeface="Calibri"/>
              </a:rPr>
              <a:t>6.1 本研究主要贡献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34 / 35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10058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4A3B8"/>
                </a:solidFill>
                <a:latin typeface="Calibri"/>
              </a:rPr>
              <a:t>基于 BRIGHT 数据集的多模态建筑损伤评估方法研究  ·  CMCA + DPCL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0B981"/>
                </a:solidFill>
                <a:latin typeface="Calibri"/>
              </a:rPr>
              <a:t>6.1  </a:t>
            </a:r>
            <a:r>
              <a:rPr sz="1800" b="1" i="0">
                <a:solidFill>
                  <a:srgbClr val="0F172A"/>
                </a:solidFill>
                <a:latin typeface="Calibri"/>
              </a:rPr>
              <a:t>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201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4572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19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诊断 BRIGHT 公共失败模式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40280"/>
            <a:ext cx="100584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多模态融合 "+1% 瓶颈" + Damaged 类 IoU 卡 35-40 % + 跨事件 mIoU 崩塌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11201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62072"/>
            <a:ext cx="4572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889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提出 CMCA 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54680"/>
            <a:ext cx="100584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Q (Optical) → K, V (SAR) 显式提取灾变信号，已验证有效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11880"/>
            <a:ext cx="11201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1188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76472"/>
            <a:ext cx="4572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诚实记录 ODL 失败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069080"/>
            <a:ext cx="100584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得出 "softmax 层换形式监督无效" 关键结论，转向 representation geometry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26280"/>
            <a:ext cx="11201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2628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90872"/>
            <a:ext cx="4572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6177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提出 DPCL 损失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983480"/>
            <a:ext cx="100584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类原型 + InfoNCE，类加权使 Damaged 簇主动收紧；训练中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40680"/>
            <a:ext cx="112014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44068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605272"/>
            <a:ext cx="4572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B981"/>
                </a:solidFill>
                <a:latin typeface="Calibri"/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532120"/>
            <a:ext cx="100584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完整 2×2 + per-class 消融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897880"/>
            <a:ext cx="100584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"如何融合 + 如何分开" 故事线边界清晰，正交性强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94A3B8"/>
                </a:solidFill>
                <a:latin typeface="Calibri"/>
              </a:rPr>
              <a:t>35 /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感谢聆听 · 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03320"/>
            <a:ext cx="50292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0584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94A3B8"/>
                </a:solidFill>
                <a:latin typeface="Calibri"/>
              </a:rPr>
              <a:t>欢迎提问 · 欢迎建议 · 欢迎合作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0584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94A3B8"/>
                </a:solidFill>
                <a:latin typeface="Calibri"/>
              </a:rPr>
              <a:t>Caleb · 基于 BRIGHT 数据集的多模态建筑损伤评估方法研究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44768"/>
            <a:ext cx="100584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10B981"/>
                </a:solidFill>
                <a:latin typeface="Calibri"/>
              </a:rPr>
              <a:t>数据集：BRIGHT (Chen et al., ESSD 2025) · github.com/ChenHongruixuan/BRIGHT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